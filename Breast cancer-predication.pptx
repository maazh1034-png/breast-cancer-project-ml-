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ileron Bold" charset="1" panose="00000800000000000000"/>
      <p:regular r:id="rId17"/>
    </p:embeddedFont>
    <p:embeddedFont>
      <p:font typeface="Koho" charset="1" panose="00000500000000000000"/>
      <p:regular r:id="rId18"/>
    </p:embeddedFont>
    <p:embeddedFont>
      <p:font typeface="Koho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34754" y="3578110"/>
            <a:ext cx="13018493" cy="214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PRESENTATION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82925" y="5642048"/>
            <a:ext cx="8522150" cy="82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2"/>
              </a:lnSpc>
            </a:pPr>
            <a:r>
              <a:rPr lang="en-US" sz="4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Group 8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97351" y="2529885"/>
            <a:ext cx="8493297" cy="140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10"/>
              </a:lnSpc>
            </a:pPr>
            <a:r>
              <a:rPr lang="en-US" b="true" sz="8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9266" y="3762496"/>
            <a:ext cx="15574113" cy="409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2"/>
              </a:lnSpc>
            </a:pPr>
          </a:p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Breast cancer is a serious health problem worldwide</a:t>
            </a:r>
          </a:p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Early detection can save lives</a:t>
            </a:r>
          </a:p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Machine Learning helps in analyzing medical data efficiently</a:t>
            </a:r>
          </a:p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 </a:t>
            </a: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This project predicts breast cancer using ML techniques</a:t>
            </a:r>
          </a:p>
          <a:p>
            <a:pPr algn="l">
              <a:lnSpc>
                <a:spcPts val="5422"/>
              </a:lnSpc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182208" y="2073145"/>
            <a:ext cx="11764661" cy="140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10"/>
              </a:lnSpc>
            </a:pPr>
            <a:r>
              <a:rPr lang="en-US" b="true" sz="8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PROBLEM STATEMENT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16522" y="3762496"/>
            <a:ext cx="8784941" cy="546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Manual diagnosis can be slow and error-prone</a:t>
            </a:r>
          </a:p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Need for an automated and accurate prediction system</a:t>
            </a:r>
          </a:p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b="true" sz="3873">
                <a:solidFill>
                  <a:srgbClr val="000000"/>
                </a:solidFill>
                <a:latin typeface="Koho Bold"/>
                <a:ea typeface="Koho Bold"/>
                <a:cs typeface="Koho Bold"/>
                <a:sym typeface="Koho Bold"/>
              </a:rPr>
              <a:t>Objective:</a:t>
            </a:r>
          </a:p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Predict whether a tumor is Malignant or Benign</a:t>
            </a:r>
          </a:p>
          <a:p>
            <a:pPr algn="l">
              <a:lnSpc>
                <a:spcPts val="542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27347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48676" y="1700429"/>
            <a:ext cx="13390649" cy="140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10"/>
              </a:lnSpc>
            </a:pPr>
            <a:r>
              <a:rPr lang="en-US" b="true" sz="8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DATASET DESCRIPTION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56668" y="3045989"/>
            <a:ext cx="11256927" cy="688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6480" indent="-383240" lvl="1">
              <a:lnSpc>
                <a:spcPts val="4970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Breast Cancer Dataset (CSV format)</a:t>
            </a:r>
          </a:p>
          <a:p>
            <a:pPr algn="l" marL="766480" indent="-383240" lvl="1">
              <a:lnSpc>
                <a:spcPts val="4970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Contains patient cell features</a:t>
            </a:r>
          </a:p>
          <a:p>
            <a:pPr algn="l" marL="766480" indent="-383240" lvl="1">
              <a:lnSpc>
                <a:spcPts val="4970"/>
              </a:lnSpc>
              <a:buFont typeface="Arial"/>
              <a:buChar char="•"/>
            </a:pPr>
            <a:r>
              <a:rPr lang="en-US" b="true" sz="3550">
                <a:solidFill>
                  <a:srgbClr val="000000"/>
                </a:solidFill>
                <a:latin typeface="Koho Bold"/>
                <a:ea typeface="Koho Bold"/>
                <a:cs typeface="Koho Bold"/>
                <a:sym typeface="Koho Bold"/>
              </a:rPr>
              <a:t>Example features:</a:t>
            </a:r>
          </a:p>
          <a:p>
            <a:pPr algn="l" marL="766480" indent="-383240" lvl="1">
              <a:lnSpc>
                <a:spcPts val="4970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Radius</a:t>
            </a:r>
          </a:p>
          <a:p>
            <a:pPr algn="l" marL="766480" indent="-383240" lvl="1">
              <a:lnSpc>
                <a:spcPts val="4970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Texture</a:t>
            </a:r>
          </a:p>
          <a:p>
            <a:pPr algn="l" marL="766480" indent="-383240" lvl="1">
              <a:lnSpc>
                <a:spcPts val="4970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Smoothness</a:t>
            </a:r>
          </a:p>
          <a:p>
            <a:pPr algn="l" marL="766480" indent="-383240" lvl="1">
              <a:lnSpc>
                <a:spcPts val="4970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Compactness</a:t>
            </a:r>
          </a:p>
          <a:p>
            <a:pPr algn="l" marL="766480" indent="-383240" lvl="1">
              <a:lnSpc>
                <a:spcPts val="4970"/>
              </a:lnSpc>
              <a:buFont typeface="Arial"/>
              <a:buChar char="•"/>
            </a:pPr>
            <a:r>
              <a:rPr lang="en-US" b="true" sz="3550">
                <a:solidFill>
                  <a:srgbClr val="000000"/>
                </a:solidFill>
                <a:latin typeface="Koho Bold"/>
                <a:ea typeface="Koho Bold"/>
                <a:cs typeface="Koho Bold"/>
                <a:sym typeface="Koho Bold"/>
              </a:rPr>
              <a:t>Target variable:</a:t>
            </a:r>
          </a:p>
          <a:p>
            <a:pPr algn="l" marL="766480" indent="-383240" lvl="1">
              <a:lnSpc>
                <a:spcPts val="4970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0 → Malignant</a:t>
            </a:r>
          </a:p>
          <a:p>
            <a:pPr algn="l" marL="766480" indent="-383240" lvl="1">
              <a:lnSpc>
                <a:spcPts val="4970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1 → Benign</a:t>
            </a:r>
          </a:p>
          <a:p>
            <a:pPr algn="l">
              <a:lnSpc>
                <a:spcPts val="497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2319" y="2101720"/>
            <a:ext cx="17583361" cy="116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0"/>
              </a:lnSpc>
            </a:pPr>
            <a:r>
              <a:rPr lang="en-US" b="true" sz="68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MACHINE LEARNING WORKFLOW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66552" y="3762496"/>
            <a:ext cx="16754780" cy="477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Data Loading</a:t>
            </a:r>
          </a:p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Data Preprocessing</a:t>
            </a:r>
          </a:p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Feature Scaling</a:t>
            </a:r>
          </a:p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Train-Test Split</a:t>
            </a:r>
          </a:p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Model Training</a:t>
            </a:r>
          </a:p>
          <a:p>
            <a:pPr algn="l" marL="836258" indent="-418129" lvl="1">
              <a:lnSpc>
                <a:spcPts val="5422"/>
              </a:lnSpc>
              <a:buFont typeface="Arial"/>
              <a:buChar char="•"/>
            </a:pPr>
            <a:r>
              <a:rPr lang="en-US" sz="3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Model Evaluation</a:t>
            </a:r>
          </a:p>
          <a:p>
            <a:pPr algn="l">
              <a:lnSpc>
                <a:spcPts val="542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97351" y="2529885"/>
            <a:ext cx="8493297" cy="140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10"/>
              </a:lnSpc>
            </a:pPr>
            <a:r>
              <a:rPr lang="en-US" b="true" sz="8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MODEL USED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6212" y="4292333"/>
            <a:ext cx="9670289" cy="476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6"/>
              </a:lnSpc>
            </a:pPr>
            <a:r>
              <a:rPr lang="en-US" sz="4661" b="true">
                <a:solidFill>
                  <a:srgbClr val="000000"/>
                </a:solidFill>
                <a:latin typeface="Koho Bold"/>
                <a:ea typeface="Koho Bold"/>
                <a:cs typeface="Koho Bold"/>
                <a:sym typeface="Koho Bold"/>
              </a:rPr>
              <a:t>Logistic Regression</a:t>
            </a:r>
          </a:p>
          <a:p>
            <a:pPr algn="l" marL="963323" indent="-481661" lvl="1">
              <a:lnSpc>
                <a:spcPts val="6246"/>
              </a:lnSpc>
              <a:buFont typeface="Arial"/>
              <a:buChar char="•"/>
            </a:pPr>
            <a:r>
              <a:rPr lang="en-US" sz="4461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Supervised learning algorithm</a:t>
            </a:r>
          </a:p>
          <a:p>
            <a:pPr algn="l" marL="963323" indent="-481661" lvl="1">
              <a:lnSpc>
                <a:spcPts val="6246"/>
              </a:lnSpc>
              <a:buFont typeface="Arial"/>
              <a:buChar char="•"/>
            </a:pPr>
            <a:r>
              <a:rPr lang="en-US" sz="4461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Used for binary classification</a:t>
            </a:r>
          </a:p>
          <a:p>
            <a:pPr algn="l" marL="963323" indent="-481661" lvl="1">
              <a:lnSpc>
                <a:spcPts val="6246"/>
              </a:lnSpc>
              <a:buFont typeface="Arial"/>
              <a:buChar char="•"/>
            </a:pPr>
            <a:r>
              <a:rPr lang="en-US" sz="4461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Simple and interpretable</a:t>
            </a:r>
          </a:p>
          <a:p>
            <a:pPr algn="l" marL="963323" indent="-481661" lvl="1">
              <a:lnSpc>
                <a:spcPts val="6246"/>
              </a:lnSpc>
              <a:buFont typeface="Arial"/>
              <a:buChar char="•"/>
            </a:pPr>
            <a:r>
              <a:rPr lang="en-US" sz="4461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Suitable for medical datasets</a:t>
            </a:r>
          </a:p>
          <a:p>
            <a:pPr algn="l">
              <a:lnSpc>
                <a:spcPts val="624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62049" y="2073145"/>
            <a:ext cx="12060099" cy="140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10"/>
              </a:lnSpc>
            </a:pPr>
            <a:r>
              <a:rPr lang="en-US" b="true" sz="8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 PREPROCESSING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43054" y="4301858"/>
            <a:ext cx="14031257" cy="248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9940" indent="-509970" lvl="1">
              <a:lnSpc>
                <a:spcPts val="6613"/>
              </a:lnSpc>
              <a:buFont typeface="Arial"/>
              <a:buChar char="•"/>
            </a:pPr>
            <a:r>
              <a:rPr lang="en-US" sz="4724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Removal of unnecessary columns</a:t>
            </a:r>
          </a:p>
          <a:p>
            <a:pPr algn="l" marL="1019940" indent="-509970" lvl="1">
              <a:lnSpc>
                <a:spcPts val="6613"/>
              </a:lnSpc>
              <a:buFont typeface="Arial"/>
              <a:buChar char="•"/>
            </a:pPr>
            <a:r>
              <a:rPr lang="en-US" sz="4724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Feature scaling using StandardScaler</a:t>
            </a:r>
          </a:p>
          <a:p>
            <a:pPr algn="l" marL="1019940" indent="-509970" lvl="1">
              <a:lnSpc>
                <a:spcPts val="6613"/>
              </a:lnSpc>
              <a:buFont typeface="Arial"/>
              <a:buChar char="•"/>
            </a:pPr>
            <a:r>
              <a:rPr lang="en-US" sz="4724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Scaling ensures all features contribute equally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350596" y="2504568"/>
            <a:ext cx="12361949" cy="133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0"/>
              </a:lnSpc>
            </a:pPr>
            <a:r>
              <a:rPr lang="en-US" b="true" sz="78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FEATURE IMPORTANCE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05691" y="4487204"/>
            <a:ext cx="14851760" cy="299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28125" indent="-464062" lvl="1">
              <a:lnSpc>
                <a:spcPts val="6018"/>
              </a:lnSpc>
              <a:buFont typeface="Arial"/>
              <a:buChar char="•"/>
            </a:pPr>
            <a:r>
              <a:rPr lang="en-US" sz="4298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Logistic Regression coefficients show feature importance</a:t>
            </a:r>
          </a:p>
          <a:p>
            <a:pPr algn="just" marL="928125" indent="-464062" lvl="1">
              <a:lnSpc>
                <a:spcPts val="6018"/>
              </a:lnSpc>
              <a:buFont typeface="Arial"/>
              <a:buChar char="•"/>
            </a:pPr>
            <a:r>
              <a:rPr lang="en-US" sz="4298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Higher coefficient = more influence on prediction</a:t>
            </a:r>
          </a:p>
          <a:p>
            <a:pPr algn="just" marL="928125" indent="-464062" lvl="1">
              <a:lnSpc>
                <a:spcPts val="6018"/>
              </a:lnSpc>
              <a:buFont typeface="Arial"/>
              <a:buChar char="•"/>
            </a:pPr>
            <a:r>
              <a:rPr lang="en-US" sz="4298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Helps in understanding medical relevance</a:t>
            </a:r>
          </a:p>
          <a:p>
            <a:pPr algn="l">
              <a:lnSpc>
                <a:spcPts val="572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97351" y="2095715"/>
            <a:ext cx="8493297" cy="140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10"/>
              </a:lnSpc>
            </a:pPr>
            <a:r>
              <a:rPr lang="en-US" b="true" sz="8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RESULT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36240" y="4470711"/>
            <a:ext cx="12711718" cy="284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9437" indent="-439719" lvl="1">
              <a:lnSpc>
                <a:spcPts val="5702"/>
              </a:lnSpc>
              <a:buFont typeface="Arial"/>
              <a:buChar char="•"/>
            </a:pPr>
            <a:r>
              <a:rPr lang="en-US" sz="40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Model Accuracy ≈ 95%</a:t>
            </a:r>
          </a:p>
          <a:p>
            <a:pPr algn="l" marL="879437" indent="-439719" lvl="1">
              <a:lnSpc>
                <a:spcPts val="5702"/>
              </a:lnSpc>
              <a:buFont typeface="Arial"/>
              <a:buChar char="•"/>
            </a:pPr>
            <a:r>
              <a:rPr lang="en-US" sz="40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High prediction performance</a:t>
            </a:r>
          </a:p>
          <a:p>
            <a:pPr algn="l" marL="879437" indent="-439719" lvl="1">
              <a:lnSpc>
                <a:spcPts val="5702"/>
              </a:lnSpc>
              <a:buFont typeface="Arial"/>
              <a:buChar char="•"/>
            </a:pPr>
            <a:r>
              <a:rPr lang="en-US" sz="40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Correct classification of most test samples</a:t>
            </a:r>
          </a:p>
          <a:p>
            <a:pPr algn="l">
              <a:lnSpc>
                <a:spcPts val="542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97351" y="2529885"/>
            <a:ext cx="8493297" cy="140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10"/>
              </a:lnSpc>
            </a:pPr>
            <a:r>
              <a:rPr lang="en-US" b="true" sz="8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65476" y="4316318"/>
            <a:ext cx="15653246" cy="304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9916" indent="-469958" lvl="1">
              <a:lnSpc>
                <a:spcPts val="6094"/>
              </a:lnSpc>
              <a:buFont typeface="Arial"/>
              <a:buChar char="•"/>
            </a:pPr>
            <a:r>
              <a:rPr lang="en-US" sz="435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Machine Learning can assist in early breast cancer detection</a:t>
            </a:r>
          </a:p>
          <a:p>
            <a:pPr algn="l" marL="939916" indent="-469958" lvl="1">
              <a:lnSpc>
                <a:spcPts val="6094"/>
              </a:lnSpc>
              <a:buFont typeface="Arial"/>
              <a:buChar char="•"/>
            </a:pPr>
            <a:r>
              <a:rPr lang="en-US" sz="435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Logistic Regression performed well</a:t>
            </a:r>
          </a:p>
          <a:p>
            <a:pPr algn="l" marL="939916" indent="-469958" lvl="1">
              <a:lnSpc>
                <a:spcPts val="6094"/>
              </a:lnSpc>
              <a:buFont typeface="Arial"/>
              <a:buChar char="•"/>
            </a:pPr>
            <a:r>
              <a:rPr lang="en-US" sz="435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Model is simple, efficient, and reliable</a:t>
            </a:r>
          </a:p>
          <a:p>
            <a:pPr algn="r">
              <a:lnSpc>
                <a:spcPts val="6094"/>
              </a:lnSpc>
            </a:pPr>
            <a:r>
              <a:rPr lang="en-US" sz="435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34754" y="3954369"/>
            <a:ext cx="13018493" cy="214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DAG8sBQZxJ0</dc:identifier>
  <dcterms:modified xsi:type="dcterms:W3CDTF">2011-08-01T06:04:30Z</dcterms:modified>
  <cp:revision>1</cp:revision>
  <dc:title>Breast cancer-predication</dc:title>
</cp:coreProperties>
</file>